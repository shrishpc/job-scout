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chivo Black" charset="1" panose="020B0A03020202020B04"/>
      <p:regular r:id="rId22"/>
    </p:embeddedFont>
    <p:embeddedFont>
      <p:font typeface="DM Sans" charset="1" panose="00000000000000000000"/>
      <p:regular r:id="rId23"/>
    </p:embeddedFont>
    <p:embeddedFont>
      <p:font typeface="IBM Plex Mono" charset="1" panose="020B0509050203000203"/>
      <p:regular r:id="rId24"/>
    </p:embeddedFont>
    <p:embeddedFont>
      <p:font typeface="DM Sans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8600" y="590550"/>
            <a:ext cx="11430000" cy="6667500"/>
            <a:chOff x="0" y="0"/>
            <a:chExt cx="15240000" cy="889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15240000">
                  <a:moveTo>
                    <a:pt x="246380" y="0"/>
                  </a:moveTo>
                  <a:lnTo>
                    <a:pt x="14993620" y="0"/>
                  </a:lnTo>
                  <a:cubicBezTo>
                    <a:pt x="15058965" y="0"/>
                    <a:pt x="15121632" y="25958"/>
                    <a:pt x="15167837" y="72163"/>
                  </a:cubicBezTo>
                  <a:cubicBezTo>
                    <a:pt x="15214042" y="118368"/>
                    <a:pt x="15240000" y="181036"/>
                    <a:pt x="15240000" y="246380"/>
                  </a:cubicBezTo>
                  <a:lnTo>
                    <a:pt x="15240000" y="8643620"/>
                  </a:lnTo>
                  <a:cubicBezTo>
                    <a:pt x="15240000" y="8779692"/>
                    <a:pt x="15129692" y="8890000"/>
                    <a:pt x="14993620" y="8890000"/>
                  </a:cubicBezTo>
                  <a:lnTo>
                    <a:pt x="246380" y="8890000"/>
                  </a:lnTo>
                  <a:cubicBezTo>
                    <a:pt x="110308" y="8890000"/>
                    <a:pt x="0" y="8779692"/>
                    <a:pt x="0" y="8643620"/>
                  </a:cubicBezTo>
                  <a:lnTo>
                    <a:pt x="0" y="246380"/>
                  </a:lnTo>
                  <a:cubicBezTo>
                    <a:pt x="0" y="110308"/>
                    <a:pt x="110308" y="0"/>
                    <a:pt x="246380" y="0"/>
                  </a:cubicBezTo>
                  <a:close/>
                </a:path>
              </a:pathLst>
            </a:custGeom>
            <a:solidFill>
              <a:srgbClr val="242424">
                <a:alpha val="6196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240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97433" y="1918613"/>
            <a:ext cx="7412961" cy="1228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17"/>
              </a:lnSpc>
              <a:spcBef>
                <a:spcPct val="0"/>
              </a:spcBef>
            </a:pPr>
            <a:r>
              <a:rPr lang="en-US" sz="8798" strike="noStrike" u="none">
                <a:solidFill>
                  <a:srgbClr val="FFFAF0"/>
                </a:solidFill>
                <a:latin typeface="Archivo Black"/>
                <a:ea typeface="Archivo Black"/>
                <a:cs typeface="Archivo Black"/>
                <a:sym typeface="Archivo Black"/>
              </a:rPr>
              <a:t>JOB SCOUT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2464" y="3398791"/>
            <a:ext cx="9909801" cy="109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5"/>
              </a:lnSpc>
              <a:spcBef>
                <a:spcPct val="0"/>
              </a:spcBef>
            </a:pPr>
            <a:r>
              <a:rPr lang="en-US" sz="4031" strike="noStrike" u="none">
                <a:solidFill>
                  <a:srgbClr val="FFFAF0"/>
                </a:solidFill>
                <a:latin typeface="Archivo Black"/>
                <a:ea typeface="Archivo Black"/>
                <a:cs typeface="Archivo Black"/>
                <a:sym typeface="Archivo Black"/>
              </a:rPr>
              <a:t>A Self-Hosted AI Platform for Job Discovery &amp; ATS Optimization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4857750"/>
            <a:ext cx="8572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AF0"/>
                </a:solidFill>
                <a:latin typeface="DM Sans"/>
                <a:ea typeface="DM Sans"/>
                <a:cs typeface="DM Sans"/>
                <a:sym typeface="DM Sans"/>
              </a:rPr>
              <a:t>By Shrish Prasad Chakraborty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5238750"/>
            <a:ext cx="7620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8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Reg. No.: RA2532014010136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5905500"/>
            <a:ext cx="10668000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AF0"/>
                </a:solidFill>
                <a:latin typeface="Archivo Black"/>
                <a:ea typeface="Archivo Black"/>
                <a:cs typeface="Archivo Black"/>
                <a:sym typeface="Archivo Black"/>
              </a:rPr>
              <a:t>Guide: DR. R. THILAGAVATHY, Ph.D., 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71500"/>
            <a:ext cx="14287500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Abstract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1476375"/>
            <a:ext cx="876300" cy="76200"/>
            <a:chOff x="0" y="0"/>
            <a:chExt cx="1168400" cy="10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0" cy="101600"/>
            </a:xfrm>
            <a:custGeom>
              <a:avLst/>
              <a:gdLst/>
              <a:ahLst/>
              <a:cxnLst/>
              <a:rect r="r" b="b" t="t" l="l"/>
              <a:pathLst>
                <a:path h="101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78B5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68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66800" y="2476500"/>
            <a:ext cx="14287500" cy="6916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Job Scout is a self-hosted platform that helps users find job vacancies suited to their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resumes, review each match, and prepare application materials.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project addresses two practical issues. Keyword-based filters can miss relevant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experience when candidates describe the same skill in different words. In addition, online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resume tools may process personal documents on provider-operated systems, depending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on the service and its settings. Job Scout collects listings from five job portals using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Playwright and Celery. It converts resumes and job descriptions into embeddings with all-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MiniLM-L6-v2 and stores and searches those vectors in PostgreSQL using pgvector and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HNSW. The ranking combines semantic similarity (70%) with keyword matching (30%).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An ATS diagnostic highlights missing keywords, and a locally hosted Llama-3.2-3B-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Instruct model uses retrieval-augmented generation (RAG) to help draft resume bullet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points and cover letters. FastAPI, Next.js, Redis, and Docker Compose connect the API,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interface, background tasks, and deployment.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In the recorded CPU-only tests, raw vector queries over 100,000 postings averaged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2.88 ms, while the two-stage hybrid query averaged 9.08 ms through the API; its 95th-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percentile latency was 11.13 ms. The automated suite passed 126 tests, with 79% backend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code coverage. On the synthetic retrieval benchmark, hybrid ranking reached an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NDCG@10 score of 0.985, compared with 0.896 for keyword-only ranking. The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evaluation also found that 9.5% of bullets generated by Llama-3.2-3B-Instruct mentioned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a technology absent from the resume. Because the retrieval labels were synthetic rather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 human-labelled examples from real job searches, these measurements should be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treated as an initial evaluation. The tests show that the main workflow can run locally;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retrieval quality on real job data and the factual accuracy of generated content need further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evaluation.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Keywords: Retrieval-Augmented Generation, Resume Parsing, Artificial Intelligence,</a:t>
            </a:r>
          </a:p>
          <a:p>
            <a:pPr algn="l" marL="0" indent="0" lvl="0">
              <a:lnSpc>
                <a:spcPts val="1897"/>
              </a:lnSpc>
              <a:spcBef>
                <a:spcPct val="0"/>
              </a:spcBef>
            </a:pPr>
            <a:r>
              <a:rPr lang="en-US" sz="1649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Job Matching, Vector Search.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33425"/>
            <a:ext cx="14287500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34"/>
              </a:lnSpc>
              <a:spcBef>
                <a:spcPct val="0"/>
              </a:spcBef>
            </a:pPr>
            <a:r>
              <a:rPr lang="en-US" sz="3900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 &amp; Motivation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1476375"/>
            <a:ext cx="876300" cy="76200"/>
            <a:chOff x="0" y="0"/>
            <a:chExt cx="1168400" cy="10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0" cy="101600"/>
            </a:xfrm>
            <a:custGeom>
              <a:avLst/>
              <a:gdLst/>
              <a:ahLst/>
              <a:cxnLst/>
              <a:rect r="r" b="b" t="t" l="l"/>
              <a:pathLst>
                <a:path h="101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78B5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68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715500" y="0"/>
            <a:ext cx="8572500" cy="10287000"/>
          </a:xfrm>
          <a:custGeom>
            <a:avLst/>
            <a:gdLst/>
            <a:ahLst/>
            <a:cxnLst/>
            <a:rect r="r" b="b" t="t" l="l"/>
            <a:pathLst>
              <a:path h="10287000" w="8572500">
                <a:moveTo>
                  <a:pt x="0" y="0"/>
                </a:moveTo>
                <a:lnTo>
                  <a:pt x="8572500" y="0"/>
                </a:lnTo>
                <a:lnTo>
                  <a:pt x="8572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9" t="-1311" r="-1259" b="-1311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66800" y="2152650"/>
            <a:ext cx="7239000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700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Candidates navigate disconnected portals, duplicate work and opaque ATS rules.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3971925"/>
            <a:ext cx="723900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01  Multiple portals fragment discovery and tracking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4781550"/>
            <a:ext cx="723900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02  Keyword-only screening misses semantic fit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5591175"/>
            <a:ext cx="723900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03  ATS optimization is difficult to validate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00100" y="8048625"/>
            <a:ext cx="7810500" cy="1619250"/>
            <a:chOff x="0" y="0"/>
            <a:chExt cx="10414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1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242424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41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66800" y="8210550"/>
            <a:ext cx="733425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MOTIVATION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Private, self-hosted assistance that keeps the user in control.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6800" y="6381750"/>
            <a:ext cx="7239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6"/>
              </a:lnSpc>
              <a:spcBef>
                <a:spcPct val="0"/>
              </a:spcBef>
            </a:pPr>
            <a:r>
              <a:rPr lang="en-US" sz="2030" strike="noStrike" u="none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04 Tailoring each application creates repetitive manual work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6800" y="7048500"/>
            <a:ext cx="7620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6"/>
              </a:lnSpc>
              <a:spcBef>
                <a:spcPct val="0"/>
              </a:spcBef>
            </a:pPr>
            <a:r>
              <a:rPr lang="en-US" sz="2030" strike="noStrike" u="none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05 External AI processing raises privacy and control concerns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71500"/>
            <a:ext cx="14287500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1476375"/>
            <a:ext cx="876300" cy="76200"/>
            <a:chOff x="0" y="0"/>
            <a:chExt cx="1168400" cy="10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0" cy="101600"/>
            </a:xfrm>
            <a:custGeom>
              <a:avLst/>
              <a:gdLst/>
              <a:ahLst/>
              <a:cxnLst/>
              <a:rect r="r" b="b" t="t" l="l"/>
              <a:pathLst>
                <a:path h="101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78B5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68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66800" y="2428875"/>
            <a:ext cx="14287500" cy="417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Define a private, review-first workflow for job discovery and ATS optimization.</a:t>
            </a:r>
          </a:p>
          <a:p>
            <a:pPr algn="l">
              <a:lnSpc>
                <a:spcPts val="4184"/>
              </a:lnSpc>
            </a:pP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Parse resumes into structured information</a:t>
            </a: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Retrieve relevant roles across five portals</a:t>
            </a: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Combine semantic and keyword evidence</a:t>
            </a: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Generate assistance locally, with human approval</a:t>
            </a: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Track applications in one workspace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33425"/>
            <a:ext cx="14287500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3900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A different class of job-search tool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1476375"/>
            <a:ext cx="876300" cy="76200"/>
            <a:chOff x="0" y="0"/>
            <a:chExt cx="1168400" cy="10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0" cy="101600"/>
            </a:xfrm>
            <a:custGeom>
              <a:avLst/>
              <a:gdLst/>
              <a:ahLst/>
              <a:cxnLst/>
              <a:rect r="r" b="b" t="t" l="l"/>
              <a:pathLst>
                <a:path h="101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78B5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68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6800" y="1952625"/>
            <a:ext cx="7429500" cy="5715000"/>
            <a:chOff x="0" y="0"/>
            <a:chExt cx="9906000" cy="762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06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7620000"/>
                  </a:lnTo>
                  <a:lnTo>
                    <a:pt x="0" y="762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906000" cy="765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39300" y="1952625"/>
            <a:ext cx="7581900" cy="5715000"/>
            <a:chOff x="0" y="0"/>
            <a:chExt cx="10109200" cy="762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092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109200">
                  <a:moveTo>
                    <a:pt x="0" y="0"/>
                  </a:moveTo>
                  <a:lnTo>
                    <a:pt x="10109200" y="0"/>
                  </a:lnTo>
                  <a:lnTo>
                    <a:pt x="10109200" y="7620000"/>
                  </a:lnTo>
                  <a:lnTo>
                    <a:pt x="0" y="7620000"/>
                  </a:lnTo>
                  <a:close/>
                </a:path>
              </a:pathLst>
            </a:custGeom>
            <a:solidFill>
              <a:srgbClr val="242424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09200" cy="765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28750" y="2305050"/>
            <a:ext cx="6477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>
                <a:solidFill>
                  <a:srgbClr val="242424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TRADITIONAL ATS TOOLS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01250" y="2305050"/>
            <a:ext cx="6477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>
                <a:solidFill>
                  <a:srgbClr val="FF8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JOB SCOUT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48500" y="8543925"/>
            <a:ext cx="4191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sz="1425" spc="114">
                <a:solidFill>
                  <a:srgbClr val="FF6B1A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RESEARCH GAP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8750" y="3200400"/>
            <a:ext cx="61912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—  Keyword-first retrieval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01250" y="3200400"/>
            <a:ext cx="61912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+  70 / 30 semantic-keyword ranking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8750" y="4343400"/>
            <a:ext cx="61912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—  Cloud-dependent generation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01250" y="4343400"/>
            <a:ext cx="61912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+  Local RAG with fallback model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8750" y="5486400"/>
            <a:ext cx="61912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—  Siloed application records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01250" y="5486400"/>
            <a:ext cx="61912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+  Five-portal discovery + tracking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8750" y="6629400"/>
            <a:ext cx="61912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—  Limited user transparency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01250" y="6629400"/>
            <a:ext cx="61912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+  Mandatory human review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71500"/>
            <a:ext cx="14287500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Research Gap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1476375"/>
            <a:ext cx="876300" cy="76200"/>
            <a:chOff x="0" y="0"/>
            <a:chExt cx="1168400" cy="10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0" cy="101600"/>
            </a:xfrm>
            <a:custGeom>
              <a:avLst/>
              <a:gdLst/>
              <a:ahLst/>
              <a:cxnLst/>
              <a:rect r="r" b="b" t="t" l="l"/>
              <a:pathLst>
                <a:path h="101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78B5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68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66800" y="2428875"/>
            <a:ext cx="14287500" cy="365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Existing tools often separate discovery, screening, generation, and tracking.</a:t>
            </a:r>
          </a:p>
          <a:p>
            <a:pPr algn="l">
              <a:lnSpc>
                <a:spcPts val="4184"/>
              </a:lnSpc>
            </a:pP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Keyword-only retrieval misses semantic fit</a:t>
            </a: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Cloud-dependent generation weakens privacy</a:t>
            </a: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Application records remain fragmented</a:t>
            </a: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Validation and user transparency are limited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33425"/>
            <a:ext cx="14287500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3900">
                <a:solidFill>
                  <a:srgbClr val="F6F6F6"/>
                </a:solidFill>
                <a:latin typeface="Archivo Black"/>
                <a:ea typeface="Archivo Black"/>
                <a:cs typeface="Archivo Black"/>
                <a:sym typeface="Archivo Black"/>
              </a:rPr>
              <a:t>Six stages. One private loop.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1476375"/>
            <a:ext cx="876300" cy="76200"/>
            <a:chOff x="0" y="0"/>
            <a:chExt cx="1168400" cy="10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0" cy="101600"/>
            </a:xfrm>
            <a:custGeom>
              <a:avLst/>
              <a:gdLst/>
              <a:ahLst/>
              <a:cxnLst/>
              <a:rect r="r" b="b" t="t" l="l"/>
              <a:pathLst>
                <a:path h="101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78B5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68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6800" y="3905250"/>
            <a:ext cx="2266950" cy="1143000"/>
            <a:chOff x="0" y="0"/>
            <a:chExt cx="3022600" cy="152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226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22600">
                  <a:moveTo>
                    <a:pt x="96050" y="0"/>
                  </a:moveTo>
                  <a:lnTo>
                    <a:pt x="2926550" y="0"/>
                  </a:lnTo>
                  <a:cubicBezTo>
                    <a:pt x="2952024" y="0"/>
                    <a:pt x="2976455" y="10120"/>
                    <a:pt x="2994467" y="28133"/>
                  </a:cubicBezTo>
                  <a:cubicBezTo>
                    <a:pt x="3012480" y="46145"/>
                    <a:pt x="3022600" y="70576"/>
                    <a:pt x="3022600" y="96050"/>
                  </a:cubicBezTo>
                  <a:lnTo>
                    <a:pt x="3022600" y="1427950"/>
                  </a:lnTo>
                  <a:cubicBezTo>
                    <a:pt x="3022600" y="1453424"/>
                    <a:pt x="3012480" y="1477855"/>
                    <a:pt x="2994467" y="1495868"/>
                  </a:cubicBezTo>
                  <a:cubicBezTo>
                    <a:pt x="2976455" y="1513880"/>
                    <a:pt x="2952024" y="1524000"/>
                    <a:pt x="2926550" y="1524000"/>
                  </a:cubicBezTo>
                  <a:lnTo>
                    <a:pt x="96050" y="1524000"/>
                  </a:lnTo>
                  <a:cubicBezTo>
                    <a:pt x="70576" y="1524000"/>
                    <a:pt x="46145" y="1513880"/>
                    <a:pt x="28133" y="1495868"/>
                  </a:cubicBezTo>
                  <a:cubicBezTo>
                    <a:pt x="10120" y="1477855"/>
                    <a:pt x="0" y="1453424"/>
                    <a:pt x="0" y="1427950"/>
                  </a:cubicBezTo>
                  <a:lnTo>
                    <a:pt x="0" y="96050"/>
                  </a:lnTo>
                  <a:cubicBezTo>
                    <a:pt x="0" y="70576"/>
                    <a:pt x="10120" y="46145"/>
                    <a:pt x="28133" y="28133"/>
                  </a:cubicBezTo>
                  <a:cubicBezTo>
                    <a:pt x="46145" y="10120"/>
                    <a:pt x="70576" y="0"/>
                    <a:pt x="96050" y="0"/>
                  </a:cubicBezTo>
                  <a:close/>
                </a:path>
              </a:pathLst>
            </a:custGeom>
            <a:solidFill>
              <a:srgbClr val="FF6B1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022600" cy="155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PARSE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3390900" y="4476750"/>
            <a:ext cx="304800" cy="0"/>
          </a:xfrm>
          <a:prstGeom prst="line">
            <a:avLst/>
          </a:prstGeom>
          <a:ln cap="rnd" w="38100">
            <a:solidFill>
              <a:srgbClr val="FF8A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771900" y="3905250"/>
            <a:ext cx="2266950" cy="1143000"/>
            <a:chOff x="0" y="0"/>
            <a:chExt cx="3022600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226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22600">
                  <a:moveTo>
                    <a:pt x="96050" y="0"/>
                  </a:moveTo>
                  <a:lnTo>
                    <a:pt x="2926550" y="0"/>
                  </a:lnTo>
                  <a:cubicBezTo>
                    <a:pt x="2952024" y="0"/>
                    <a:pt x="2976455" y="10120"/>
                    <a:pt x="2994467" y="28133"/>
                  </a:cubicBezTo>
                  <a:cubicBezTo>
                    <a:pt x="3012480" y="46145"/>
                    <a:pt x="3022600" y="70576"/>
                    <a:pt x="3022600" y="96050"/>
                  </a:cubicBezTo>
                  <a:lnTo>
                    <a:pt x="3022600" y="1427950"/>
                  </a:lnTo>
                  <a:cubicBezTo>
                    <a:pt x="3022600" y="1453424"/>
                    <a:pt x="3012480" y="1477855"/>
                    <a:pt x="2994467" y="1495868"/>
                  </a:cubicBezTo>
                  <a:cubicBezTo>
                    <a:pt x="2976455" y="1513880"/>
                    <a:pt x="2952024" y="1524000"/>
                    <a:pt x="2926550" y="1524000"/>
                  </a:cubicBezTo>
                  <a:lnTo>
                    <a:pt x="96050" y="1524000"/>
                  </a:lnTo>
                  <a:cubicBezTo>
                    <a:pt x="70576" y="1524000"/>
                    <a:pt x="46145" y="1513880"/>
                    <a:pt x="28133" y="1495868"/>
                  </a:cubicBezTo>
                  <a:cubicBezTo>
                    <a:pt x="10120" y="1477855"/>
                    <a:pt x="0" y="1453424"/>
                    <a:pt x="0" y="1427950"/>
                  </a:cubicBezTo>
                  <a:lnTo>
                    <a:pt x="0" y="96050"/>
                  </a:lnTo>
                  <a:cubicBezTo>
                    <a:pt x="0" y="70576"/>
                    <a:pt x="10120" y="46145"/>
                    <a:pt x="28133" y="28133"/>
                  </a:cubicBezTo>
                  <a:cubicBezTo>
                    <a:pt x="46145" y="10120"/>
                    <a:pt x="70576" y="0"/>
                    <a:pt x="96050" y="0"/>
                  </a:cubicBezTo>
                  <a:close/>
                </a:path>
              </a:pathLst>
            </a:custGeom>
            <a:solidFill>
              <a:srgbClr val="FF6B1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022600" cy="155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EMBED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096000" y="4476750"/>
            <a:ext cx="304800" cy="0"/>
          </a:xfrm>
          <a:prstGeom prst="line">
            <a:avLst/>
          </a:prstGeom>
          <a:ln cap="rnd" w="38100">
            <a:solidFill>
              <a:srgbClr val="FF8A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6477000" y="3905250"/>
            <a:ext cx="2266950" cy="1143000"/>
            <a:chOff x="0" y="0"/>
            <a:chExt cx="30226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226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22600">
                  <a:moveTo>
                    <a:pt x="96050" y="0"/>
                  </a:moveTo>
                  <a:lnTo>
                    <a:pt x="2926550" y="0"/>
                  </a:lnTo>
                  <a:cubicBezTo>
                    <a:pt x="2952024" y="0"/>
                    <a:pt x="2976455" y="10120"/>
                    <a:pt x="2994467" y="28133"/>
                  </a:cubicBezTo>
                  <a:cubicBezTo>
                    <a:pt x="3012480" y="46145"/>
                    <a:pt x="3022600" y="70576"/>
                    <a:pt x="3022600" y="96050"/>
                  </a:cubicBezTo>
                  <a:lnTo>
                    <a:pt x="3022600" y="1427950"/>
                  </a:lnTo>
                  <a:cubicBezTo>
                    <a:pt x="3022600" y="1453424"/>
                    <a:pt x="3012480" y="1477855"/>
                    <a:pt x="2994467" y="1495868"/>
                  </a:cubicBezTo>
                  <a:cubicBezTo>
                    <a:pt x="2976455" y="1513880"/>
                    <a:pt x="2952024" y="1524000"/>
                    <a:pt x="2926550" y="1524000"/>
                  </a:cubicBezTo>
                  <a:lnTo>
                    <a:pt x="96050" y="1524000"/>
                  </a:lnTo>
                  <a:cubicBezTo>
                    <a:pt x="70576" y="1524000"/>
                    <a:pt x="46145" y="1513880"/>
                    <a:pt x="28133" y="1495868"/>
                  </a:cubicBezTo>
                  <a:cubicBezTo>
                    <a:pt x="10120" y="1477855"/>
                    <a:pt x="0" y="1453424"/>
                    <a:pt x="0" y="1427950"/>
                  </a:cubicBezTo>
                  <a:lnTo>
                    <a:pt x="0" y="96050"/>
                  </a:lnTo>
                  <a:cubicBezTo>
                    <a:pt x="0" y="70576"/>
                    <a:pt x="10120" y="46145"/>
                    <a:pt x="28133" y="28133"/>
                  </a:cubicBezTo>
                  <a:cubicBezTo>
                    <a:pt x="46145" y="10120"/>
                    <a:pt x="70576" y="0"/>
                    <a:pt x="96050" y="0"/>
                  </a:cubicBezTo>
                  <a:close/>
                </a:path>
              </a:pathLst>
            </a:custGeom>
            <a:solidFill>
              <a:srgbClr val="FF6B1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022600" cy="155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HYBRID MATCH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801100" y="4476750"/>
            <a:ext cx="304800" cy="0"/>
          </a:xfrm>
          <a:prstGeom prst="line">
            <a:avLst/>
          </a:prstGeom>
          <a:ln cap="rnd" w="38100">
            <a:solidFill>
              <a:srgbClr val="FF8A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9182100" y="3905250"/>
            <a:ext cx="2266950" cy="1143000"/>
            <a:chOff x="0" y="0"/>
            <a:chExt cx="3022600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226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22600">
                  <a:moveTo>
                    <a:pt x="96050" y="0"/>
                  </a:moveTo>
                  <a:lnTo>
                    <a:pt x="2926550" y="0"/>
                  </a:lnTo>
                  <a:cubicBezTo>
                    <a:pt x="2952024" y="0"/>
                    <a:pt x="2976455" y="10120"/>
                    <a:pt x="2994467" y="28133"/>
                  </a:cubicBezTo>
                  <a:cubicBezTo>
                    <a:pt x="3012480" y="46145"/>
                    <a:pt x="3022600" y="70576"/>
                    <a:pt x="3022600" y="96050"/>
                  </a:cubicBezTo>
                  <a:lnTo>
                    <a:pt x="3022600" y="1427950"/>
                  </a:lnTo>
                  <a:cubicBezTo>
                    <a:pt x="3022600" y="1453424"/>
                    <a:pt x="3012480" y="1477855"/>
                    <a:pt x="2994467" y="1495868"/>
                  </a:cubicBezTo>
                  <a:cubicBezTo>
                    <a:pt x="2976455" y="1513880"/>
                    <a:pt x="2952024" y="1524000"/>
                    <a:pt x="2926550" y="1524000"/>
                  </a:cubicBezTo>
                  <a:lnTo>
                    <a:pt x="96050" y="1524000"/>
                  </a:lnTo>
                  <a:cubicBezTo>
                    <a:pt x="70576" y="1524000"/>
                    <a:pt x="46145" y="1513880"/>
                    <a:pt x="28133" y="1495868"/>
                  </a:cubicBezTo>
                  <a:cubicBezTo>
                    <a:pt x="10120" y="1477855"/>
                    <a:pt x="0" y="1453424"/>
                    <a:pt x="0" y="1427950"/>
                  </a:cubicBezTo>
                  <a:lnTo>
                    <a:pt x="0" y="96050"/>
                  </a:lnTo>
                  <a:cubicBezTo>
                    <a:pt x="0" y="70576"/>
                    <a:pt x="10120" y="46145"/>
                    <a:pt x="28133" y="28133"/>
                  </a:cubicBezTo>
                  <a:cubicBezTo>
                    <a:pt x="46145" y="10120"/>
                    <a:pt x="70576" y="0"/>
                    <a:pt x="96050" y="0"/>
                  </a:cubicBezTo>
                  <a:close/>
                </a:path>
              </a:pathLst>
            </a:custGeom>
            <a:solidFill>
              <a:srgbClr val="FF6B1A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022600" cy="155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LOCAL RAG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1506200" y="4476750"/>
            <a:ext cx="304800" cy="0"/>
          </a:xfrm>
          <a:prstGeom prst="line">
            <a:avLst/>
          </a:prstGeom>
          <a:ln cap="rnd" w="38100">
            <a:solidFill>
              <a:srgbClr val="FF8A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1887200" y="3905250"/>
            <a:ext cx="2266950" cy="1143000"/>
            <a:chOff x="0" y="0"/>
            <a:chExt cx="3022600" cy="152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226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22600">
                  <a:moveTo>
                    <a:pt x="96050" y="0"/>
                  </a:moveTo>
                  <a:lnTo>
                    <a:pt x="2926550" y="0"/>
                  </a:lnTo>
                  <a:cubicBezTo>
                    <a:pt x="2952024" y="0"/>
                    <a:pt x="2976455" y="10120"/>
                    <a:pt x="2994467" y="28133"/>
                  </a:cubicBezTo>
                  <a:cubicBezTo>
                    <a:pt x="3012480" y="46145"/>
                    <a:pt x="3022600" y="70576"/>
                    <a:pt x="3022600" y="96050"/>
                  </a:cubicBezTo>
                  <a:lnTo>
                    <a:pt x="3022600" y="1427950"/>
                  </a:lnTo>
                  <a:cubicBezTo>
                    <a:pt x="3022600" y="1453424"/>
                    <a:pt x="3012480" y="1477855"/>
                    <a:pt x="2994467" y="1495868"/>
                  </a:cubicBezTo>
                  <a:cubicBezTo>
                    <a:pt x="2976455" y="1513880"/>
                    <a:pt x="2952024" y="1524000"/>
                    <a:pt x="2926550" y="1524000"/>
                  </a:cubicBezTo>
                  <a:lnTo>
                    <a:pt x="96050" y="1524000"/>
                  </a:lnTo>
                  <a:cubicBezTo>
                    <a:pt x="70576" y="1524000"/>
                    <a:pt x="46145" y="1513880"/>
                    <a:pt x="28133" y="1495868"/>
                  </a:cubicBezTo>
                  <a:cubicBezTo>
                    <a:pt x="10120" y="1477855"/>
                    <a:pt x="0" y="1453424"/>
                    <a:pt x="0" y="1427950"/>
                  </a:cubicBezTo>
                  <a:lnTo>
                    <a:pt x="0" y="96050"/>
                  </a:lnTo>
                  <a:cubicBezTo>
                    <a:pt x="0" y="70576"/>
                    <a:pt x="10120" y="46145"/>
                    <a:pt x="28133" y="28133"/>
                  </a:cubicBezTo>
                  <a:cubicBezTo>
                    <a:pt x="46145" y="10120"/>
                    <a:pt x="70576" y="0"/>
                    <a:pt x="96050" y="0"/>
                  </a:cubicBezTo>
                  <a:close/>
                </a:path>
              </a:pathLst>
            </a:custGeom>
            <a:solidFill>
              <a:srgbClr val="FF6B1A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022600" cy="155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TRACK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4211300" y="4476750"/>
            <a:ext cx="304800" cy="0"/>
          </a:xfrm>
          <a:prstGeom prst="line">
            <a:avLst/>
          </a:prstGeom>
          <a:ln cap="rnd" w="38100">
            <a:solidFill>
              <a:srgbClr val="FF8A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4592300" y="3905250"/>
            <a:ext cx="2266950" cy="1143000"/>
            <a:chOff x="0" y="0"/>
            <a:chExt cx="3022600" cy="1524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226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022600">
                  <a:moveTo>
                    <a:pt x="96050" y="0"/>
                  </a:moveTo>
                  <a:lnTo>
                    <a:pt x="2926550" y="0"/>
                  </a:lnTo>
                  <a:cubicBezTo>
                    <a:pt x="2952024" y="0"/>
                    <a:pt x="2976455" y="10120"/>
                    <a:pt x="2994467" y="28133"/>
                  </a:cubicBezTo>
                  <a:cubicBezTo>
                    <a:pt x="3012480" y="46145"/>
                    <a:pt x="3022600" y="70576"/>
                    <a:pt x="3022600" y="96050"/>
                  </a:cubicBezTo>
                  <a:lnTo>
                    <a:pt x="3022600" y="1427950"/>
                  </a:lnTo>
                  <a:cubicBezTo>
                    <a:pt x="3022600" y="1453424"/>
                    <a:pt x="3012480" y="1477855"/>
                    <a:pt x="2994467" y="1495868"/>
                  </a:cubicBezTo>
                  <a:cubicBezTo>
                    <a:pt x="2976455" y="1513880"/>
                    <a:pt x="2952024" y="1524000"/>
                    <a:pt x="2926550" y="1524000"/>
                  </a:cubicBezTo>
                  <a:lnTo>
                    <a:pt x="96050" y="1524000"/>
                  </a:lnTo>
                  <a:cubicBezTo>
                    <a:pt x="70576" y="1524000"/>
                    <a:pt x="46145" y="1513880"/>
                    <a:pt x="28133" y="1495868"/>
                  </a:cubicBezTo>
                  <a:cubicBezTo>
                    <a:pt x="10120" y="1477855"/>
                    <a:pt x="0" y="1453424"/>
                    <a:pt x="0" y="1427950"/>
                  </a:cubicBezTo>
                  <a:lnTo>
                    <a:pt x="0" y="96050"/>
                  </a:lnTo>
                  <a:cubicBezTo>
                    <a:pt x="0" y="70576"/>
                    <a:pt x="10120" y="46145"/>
                    <a:pt x="28133" y="28133"/>
                  </a:cubicBezTo>
                  <a:cubicBezTo>
                    <a:pt x="46145" y="10120"/>
                    <a:pt x="70576" y="0"/>
                    <a:pt x="96050" y="0"/>
                  </a:cubicBezTo>
                  <a:close/>
                </a:path>
              </a:pathLst>
            </a:custGeom>
            <a:solidFill>
              <a:srgbClr val="FF8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3022600" cy="155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0B183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REVIEW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81125" y="6543675"/>
            <a:ext cx="47625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75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FastAPI + Celery orchestration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62750" y="6543675"/>
            <a:ext cx="47625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75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PostgreSQL · pgvector · HNSW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92000" y="6543675"/>
            <a:ext cx="47625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75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Local Llama + fallback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429000" y="8220075"/>
            <a:ext cx="11430000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sz="1425" spc="114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Next.js  ·  Redis  ·  Playwright  ·  Docker Compose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33425"/>
            <a:ext cx="14287500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3900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Built as modular infrastructure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1476375"/>
            <a:ext cx="876300" cy="76200"/>
            <a:chOff x="0" y="0"/>
            <a:chExt cx="1168400" cy="10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0" cy="101600"/>
            </a:xfrm>
            <a:custGeom>
              <a:avLst/>
              <a:gdLst/>
              <a:ahLst/>
              <a:cxnLst/>
              <a:rect r="r" b="b" t="t" l="l"/>
              <a:pathLst>
                <a:path h="101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78B5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68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6800" y="2333625"/>
            <a:ext cx="4953000" cy="2333625"/>
            <a:chOff x="0" y="0"/>
            <a:chExt cx="6604000" cy="3111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604000" cy="3111500"/>
              <a:chOff x="0" y="0"/>
              <a:chExt cx="6604000" cy="3111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604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604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55600" y="327025"/>
              <a:ext cx="1651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14">
                  <a:solidFill>
                    <a:srgbClr val="FF6B1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API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55600" y="1069975"/>
              <a:ext cx="6096000" cy="418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5"/>
                </a:lnSpc>
              </a:pPr>
              <a:r>
                <a:rPr lang="en-US" sz="2250">
                  <a:solidFill>
                    <a:srgbClr val="242424"/>
                  </a:solidFill>
                  <a:latin typeface="DM Sans"/>
                  <a:ea typeface="DM Sans"/>
                  <a:cs typeface="DM Sans"/>
                  <a:sym typeface="DM Sans"/>
                </a:rPr>
                <a:t>FastAPI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5600" y="1885950"/>
              <a:ext cx="6096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42424"/>
                  </a:solidFill>
                  <a:latin typeface="DM Sans"/>
                  <a:ea typeface="DM Sans"/>
                  <a:cs typeface="DM Sans"/>
                  <a:sym typeface="DM Sans"/>
                </a:rPr>
                <a:t>126 tests · 79% coverage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96050" y="2333625"/>
            <a:ext cx="4953000" cy="2333625"/>
            <a:chOff x="0" y="0"/>
            <a:chExt cx="6604000" cy="31115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604000" cy="3111500"/>
              <a:chOff x="0" y="0"/>
              <a:chExt cx="6604000" cy="31115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604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6604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55600" y="327025"/>
              <a:ext cx="1651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14">
                  <a:solidFill>
                    <a:srgbClr val="FF6B1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DATA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5600" y="1069975"/>
              <a:ext cx="6096000" cy="418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5"/>
                </a:lnSpc>
              </a:pPr>
              <a:r>
                <a:rPr lang="en-US" sz="2250">
                  <a:solidFill>
                    <a:srgbClr val="242424"/>
                  </a:solidFill>
                  <a:latin typeface="DM Sans"/>
                  <a:ea typeface="DM Sans"/>
                  <a:cs typeface="DM Sans"/>
                  <a:sym typeface="DM Sans"/>
                </a:rPr>
                <a:t>PostgreSQL + pgvector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55600" y="1885950"/>
              <a:ext cx="6096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42424"/>
                  </a:solidFill>
                  <a:latin typeface="DM Sans"/>
                  <a:ea typeface="DM Sans"/>
                  <a:cs typeface="DM Sans"/>
                  <a:sym typeface="DM Sans"/>
                </a:rPr>
                <a:t>HNSW graph index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25300" y="2333625"/>
            <a:ext cx="4953000" cy="2333625"/>
            <a:chOff x="0" y="0"/>
            <a:chExt cx="6604000" cy="31115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604000" cy="3111500"/>
              <a:chOff x="0" y="0"/>
              <a:chExt cx="6604000" cy="31115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604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604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55600" y="327025"/>
              <a:ext cx="1651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14">
                  <a:solidFill>
                    <a:srgbClr val="FF6B1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EMBED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55600" y="1069975"/>
              <a:ext cx="6096000" cy="418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5"/>
                </a:lnSpc>
              </a:pPr>
              <a:r>
                <a:rPr lang="en-US" sz="2250">
                  <a:solidFill>
                    <a:srgbClr val="242424"/>
                  </a:solidFill>
                  <a:latin typeface="DM Sans"/>
                  <a:ea typeface="DM Sans"/>
                  <a:cs typeface="DM Sans"/>
                  <a:sym typeface="DM Sans"/>
                </a:rPr>
                <a:t>all-MiniLM-L6-v2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55600" y="1885950"/>
              <a:ext cx="6096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42424"/>
                  </a:solidFill>
                  <a:latin typeface="DM Sans"/>
                  <a:ea typeface="DM Sans"/>
                  <a:cs typeface="DM Sans"/>
                  <a:sym typeface="DM Sans"/>
                </a:rPr>
                <a:t>384-dimensional vectors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66800" y="5476875"/>
            <a:ext cx="4953000" cy="2333625"/>
            <a:chOff x="0" y="0"/>
            <a:chExt cx="6604000" cy="31115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604000" cy="3111500"/>
              <a:chOff x="0" y="0"/>
              <a:chExt cx="6604000" cy="31115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604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604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55600" y="327025"/>
              <a:ext cx="1651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14">
                  <a:solidFill>
                    <a:srgbClr val="FF6B1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UI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55600" y="1069975"/>
              <a:ext cx="6096000" cy="418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5"/>
                </a:lnSpc>
              </a:pPr>
              <a:r>
                <a:rPr lang="en-US" sz="2250">
                  <a:solidFill>
                    <a:srgbClr val="242424"/>
                  </a:solidFill>
                  <a:latin typeface="DM Sans"/>
                  <a:ea typeface="DM Sans"/>
                  <a:cs typeface="DM Sans"/>
                  <a:sym typeface="DM Sans"/>
                </a:rPr>
                <a:t>Next.js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55600" y="1885950"/>
              <a:ext cx="6096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42424"/>
                  </a:solidFill>
                  <a:latin typeface="DM Sans"/>
                  <a:ea typeface="DM Sans"/>
                  <a:cs typeface="DM Sans"/>
                  <a:sym typeface="DM Sans"/>
                </a:rPr>
                <a:t>Review-first workflow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496050" y="5476875"/>
            <a:ext cx="4953000" cy="2333625"/>
            <a:chOff x="0" y="0"/>
            <a:chExt cx="6604000" cy="31115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6604000" cy="3111500"/>
              <a:chOff x="0" y="0"/>
              <a:chExt cx="6604000" cy="31115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604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6604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355600" y="327025"/>
              <a:ext cx="1651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14">
                  <a:solidFill>
                    <a:srgbClr val="FF6B1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GEN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55600" y="1069975"/>
              <a:ext cx="6096000" cy="418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5"/>
                </a:lnSpc>
              </a:pPr>
              <a:r>
                <a:rPr lang="en-US" sz="2250">
                  <a:solidFill>
                    <a:srgbClr val="242424"/>
                  </a:solidFill>
                  <a:latin typeface="DM Sans"/>
                  <a:ea typeface="DM Sans"/>
                  <a:cs typeface="DM Sans"/>
                  <a:sym typeface="DM Sans"/>
                </a:rPr>
                <a:t>Local Llama 3.2 3B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355600" y="1885950"/>
              <a:ext cx="6096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42424"/>
                  </a:solidFill>
                  <a:latin typeface="DM Sans"/>
                  <a:ea typeface="DM Sans"/>
                  <a:cs typeface="DM Sans"/>
                  <a:sym typeface="DM Sans"/>
                </a:rPr>
                <a:t>TinyLlama fallback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925300" y="5476875"/>
            <a:ext cx="4953000" cy="2333625"/>
            <a:chOff x="0" y="0"/>
            <a:chExt cx="6604000" cy="311150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6604000" cy="3111500"/>
              <a:chOff x="0" y="0"/>
              <a:chExt cx="6604000" cy="31115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6604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6604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355600" y="327025"/>
              <a:ext cx="1651000" cy="31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spc="114">
                  <a:solidFill>
                    <a:srgbClr val="FF6B1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OPS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355600" y="1069975"/>
              <a:ext cx="6096000" cy="418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5"/>
                </a:lnSpc>
              </a:pPr>
              <a:r>
                <a:rPr lang="en-US" sz="2250">
                  <a:solidFill>
                    <a:srgbClr val="242424"/>
                  </a:solidFill>
                  <a:latin typeface="DM Sans"/>
                  <a:ea typeface="DM Sans"/>
                  <a:cs typeface="DM Sans"/>
                  <a:sym typeface="DM Sans"/>
                </a:rPr>
                <a:t>Redis · Celery · Playwright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355600" y="1885950"/>
              <a:ext cx="6096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242424"/>
                  </a:solidFill>
                  <a:latin typeface="DM Sans"/>
                  <a:ea typeface="DM Sans"/>
                  <a:cs typeface="DM Sans"/>
                  <a:sym typeface="DM Sans"/>
                </a:rPr>
                <a:t>Docker Compose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71500"/>
            <a:ext cx="14287500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Resume Parsing &amp; Embedding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1476375"/>
            <a:ext cx="876300" cy="76200"/>
            <a:chOff x="0" y="0"/>
            <a:chExt cx="1168400" cy="10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0" cy="101600"/>
            </a:xfrm>
            <a:custGeom>
              <a:avLst/>
              <a:gdLst/>
              <a:ahLst/>
              <a:cxnLst/>
              <a:rect r="r" b="b" t="t" l="l"/>
              <a:pathLst>
                <a:path h="101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78B5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68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66800" y="2428875"/>
            <a:ext cx="14287500" cy="313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Resume → structured profile → embedding → searchable index</a:t>
            </a:r>
          </a:p>
          <a:p>
            <a:pPr algn="l">
              <a:lnSpc>
                <a:spcPts val="4184"/>
              </a:lnSpc>
            </a:pP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Resume parsing creates usable candidate signals</a:t>
            </a: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all-MiniLM-L6-v2 produces 384-dimensional vectors</a:t>
            </a: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PostgreSQL + pgvector stores the representations</a:t>
            </a: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HNSW supports efficient similarity search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33425"/>
            <a:ext cx="14287500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3900">
                <a:solidFill>
                  <a:srgbClr val="F6F6F6"/>
                </a:solidFill>
                <a:latin typeface="Archivo Black"/>
                <a:ea typeface="Archivo Black"/>
                <a:cs typeface="Archivo Black"/>
                <a:sym typeface="Archivo Black"/>
              </a:rPr>
              <a:t>Hybrid search is fast—and precise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1476375"/>
            <a:ext cx="876300" cy="76200"/>
            <a:chOff x="0" y="0"/>
            <a:chExt cx="1168400" cy="10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0" cy="101600"/>
            </a:xfrm>
            <a:custGeom>
              <a:avLst/>
              <a:gdLst/>
              <a:ahLst/>
              <a:cxnLst/>
              <a:rect r="r" b="b" t="t" l="l"/>
              <a:pathLst>
                <a:path h="101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78B5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68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12053" y="1817746"/>
            <a:ext cx="10272493" cy="7223009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953750" y="2524125"/>
            <a:ext cx="2857500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0"/>
              </a:lnSpc>
            </a:pPr>
            <a:r>
              <a:rPr lang="en-US" sz="6150">
                <a:solidFill>
                  <a:srgbClr val="FF8A2B"/>
                </a:solidFill>
                <a:latin typeface="Archivo Black"/>
                <a:ea typeface="Archivo Black"/>
                <a:cs typeface="Archivo Black"/>
                <a:sym typeface="Archivo Black"/>
              </a:rPr>
              <a:t>70%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49000" y="3590925"/>
            <a:ext cx="285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>
                <a:solidFill>
                  <a:srgbClr val="F6F6F6"/>
                </a:solidFill>
                <a:latin typeface="IBM Plex Mono"/>
                <a:ea typeface="IBM Plex Mono"/>
                <a:cs typeface="IBM Plex Mono"/>
                <a:sym typeface="IBM Plex Mono"/>
              </a:rPr>
              <a:t>SEMANTIC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0" y="2524125"/>
            <a:ext cx="2857500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0"/>
              </a:lnSpc>
            </a:pPr>
            <a:r>
              <a:rPr lang="en-US" sz="6150">
                <a:solidFill>
                  <a:srgbClr val="FF6B1A"/>
                </a:solidFill>
                <a:latin typeface="Archivo Black"/>
                <a:ea typeface="Archivo Black"/>
                <a:cs typeface="Archivo Black"/>
                <a:sym typeface="Archivo Black"/>
              </a:rPr>
              <a:t>30%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82750" y="3590925"/>
            <a:ext cx="285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>
                <a:solidFill>
                  <a:srgbClr val="F6F6F6"/>
                </a:solidFill>
                <a:latin typeface="IBM Plex Mono"/>
                <a:ea typeface="IBM Plex Mono"/>
                <a:cs typeface="IBM Plex Mono"/>
                <a:sym typeface="IBM Plex Mono"/>
              </a:rPr>
              <a:t>KEYWORD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53750" y="4895850"/>
            <a:ext cx="49530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5250">
                <a:solidFill>
                  <a:srgbClr val="F6F6F6"/>
                </a:solidFill>
                <a:latin typeface="Archivo Black"/>
                <a:ea typeface="Archivo Black"/>
                <a:cs typeface="Archivo Black"/>
                <a:sym typeface="Archivo Black"/>
              </a:rPr>
              <a:t>0.9565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9000" y="5876925"/>
            <a:ext cx="4953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Recall@10 · ef_search=400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53750" y="7067550"/>
            <a:ext cx="581025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61.33 s cold CPU  →  2.00 ms cached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53750" y="8258175"/>
            <a:ext cx="5429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>
                <a:solidFill>
                  <a:srgbClr val="FF8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OFFLINE AUDIT PASSED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71500"/>
            <a:ext cx="14287500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Local RAG &amp; Generation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1476375"/>
            <a:ext cx="876300" cy="76200"/>
            <a:chOff x="0" y="0"/>
            <a:chExt cx="1168400" cy="10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0" cy="101600"/>
            </a:xfrm>
            <a:custGeom>
              <a:avLst/>
              <a:gdLst/>
              <a:ahLst/>
              <a:cxnLst/>
              <a:rect r="r" b="b" t="t" l="l"/>
              <a:pathLst>
                <a:path h="101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78B5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68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66800" y="2428875"/>
            <a:ext cx="14287500" cy="313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Retrieved jobs and resume evidence ground the response.</a:t>
            </a:r>
          </a:p>
          <a:p>
            <a:pPr algn="l">
              <a:lnSpc>
                <a:spcPts val="4184"/>
              </a:lnSpc>
            </a:pP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Local Llama 3.2 3B handles generation</a:t>
            </a: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TinyLlama provides fallback support</a:t>
            </a: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Human approval is required before generated content is used</a:t>
            </a:r>
          </a:p>
          <a:p>
            <a:pPr algn="l">
              <a:lnSpc>
                <a:spcPts val="4184"/>
              </a:lnSpc>
            </a:pPr>
            <a:r>
              <a:rPr lang="en-US" sz="3099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Unsupported-tech rate: Llama 9.5% vs TinyLlama 29.8%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33425"/>
            <a:ext cx="14287500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34"/>
              </a:lnSpc>
              <a:spcBef>
                <a:spcPct val="0"/>
              </a:spcBef>
            </a:pPr>
            <a:r>
              <a:rPr lang="en-US" sz="3900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Job Discovery &amp; Application Tracking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1476375"/>
            <a:ext cx="876300" cy="76200"/>
            <a:chOff x="0" y="0"/>
            <a:chExt cx="1168400" cy="10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0" cy="101600"/>
            </a:xfrm>
            <a:custGeom>
              <a:avLst/>
              <a:gdLst/>
              <a:ahLst/>
              <a:cxnLst/>
              <a:rect r="r" b="b" t="t" l="l"/>
              <a:pathLst>
                <a:path h="101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78B5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68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39000" y="1952625"/>
            <a:ext cx="9982200" cy="6762750"/>
          </a:xfrm>
          <a:custGeom>
            <a:avLst/>
            <a:gdLst/>
            <a:ahLst/>
            <a:cxnLst/>
            <a:rect r="r" b="b" t="t" l="l"/>
            <a:pathLst>
              <a:path h="6762750" w="9982200">
                <a:moveTo>
                  <a:pt x="0" y="0"/>
                </a:moveTo>
                <a:lnTo>
                  <a:pt x="9982200" y="0"/>
                </a:lnTo>
                <a:lnTo>
                  <a:pt x="9982200" y="6762750"/>
                </a:lnTo>
                <a:lnTo>
                  <a:pt x="0" y="6762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5" t="-1596" r="-1595" b="-1596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66800" y="2343150"/>
            <a:ext cx="504825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1  Upload resume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3533775"/>
            <a:ext cx="504825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2  Parse + embed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4724400"/>
            <a:ext cx="504825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3  Discover across 5 portals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5915025"/>
            <a:ext cx="504825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4  Generate with local RAG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7105650"/>
            <a:ext cx="504825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5  Review, apply + track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6800" y="8362950"/>
            <a:ext cx="5143500" cy="57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FF6B1A"/>
                </a:solidFill>
                <a:latin typeface="DM Sans"/>
                <a:ea typeface="DM Sans"/>
                <a:cs typeface="DM Sans"/>
                <a:sym typeface="DM Sans"/>
              </a:rPr>
              <a:t>Human approval is required before generated content is used.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33425"/>
            <a:ext cx="14287500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34"/>
              </a:lnSpc>
              <a:spcBef>
                <a:spcPct val="0"/>
              </a:spcBef>
            </a:pPr>
            <a:r>
              <a:rPr lang="en-US" sz="3900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Testing &amp; Evaluation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1476375"/>
            <a:ext cx="876300" cy="76200"/>
            <a:chOff x="0" y="0"/>
            <a:chExt cx="1168400" cy="10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0" cy="101600"/>
            </a:xfrm>
            <a:custGeom>
              <a:avLst/>
              <a:gdLst/>
              <a:ahLst/>
              <a:cxnLst/>
              <a:rect r="r" b="b" t="t" l="l"/>
              <a:pathLst>
                <a:path h="101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78B5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68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90625" y="2857500"/>
            <a:ext cx="2571750" cy="857250"/>
            <a:chOff x="0" y="0"/>
            <a:chExt cx="3429000" cy="114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9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429000">
                  <a:moveTo>
                    <a:pt x="75259" y="0"/>
                  </a:moveTo>
                  <a:lnTo>
                    <a:pt x="3353741" y="0"/>
                  </a:lnTo>
                  <a:cubicBezTo>
                    <a:pt x="3395305" y="0"/>
                    <a:pt x="3429000" y="33695"/>
                    <a:pt x="3429000" y="75259"/>
                  </a:cubicBezTo>
                  <a:lnTo>
                    <a:pt x="3429000" y="1067741"/>
                  </a:lnTo>
                  <a:cubicBezTo>
                    <a:pt x="3429000" y="1109305"/>
                    <a:pt x="3395305" y="1143000"/>
                    <a:pt x="3353741" y="1143000"/>
                  </a:cubicBezTo>
                  <a:lnTo>
                    <a:pt x="75259" y="1143000"/>
                  </a:lnTo>
                  <a:cubicBezTo>
                    <a:pt x="33695" y="1143000"/>
                    <a:pt x="0" y="1109305"/>
                    <a:pt x="0" y="1067741"/>
                  </a:cubicBezTo>
                  <a:lnTo>
                    <a:pt x="0" y="75259"/>
                  </a:lnTo>
                  <a:cubicBezTo>
                    <a:pt x="0" y="33695"/>
                    <a:pt x="33695" y="0"/>
                    <a:pt x="7525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429000" cy="1190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457D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90625" y="3971925"/>
            <a:ext cx="25717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Synthetic labels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857625" y="3286125"/>
            <a:ext cx="552450" cy="0"/>
          </a:xfrm>
          <a:prstGeom prst="line">
            <a:avLst/>
          </a:prstGeom>
          <a:ln cap="flat" w="28575">
            <a:solidFill>
              <a:srgbClr val="C6B9A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524375" y="2857500"/>
            <a:ext cx="2571750" cy="857250"/>
            <a:chOff x="0" y="0"/>
            <a:chExt cx="3429000" cy="114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29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429000">
                  <a:moveTo>
                    <a:pt x="75259" y="0"/>
                  </a:moveTo>
                  <a:lnTo>
                    <a:pt x="3353741" y="0"/>
                  </a:lnTo>
                  <a:cubicBezTo>
                    <a:pt x="3395305" y="0"/>
                    <a:pt x="3429000" y="33695"/>
                    <a:pt x="3429000" y="75259"/>
                  </a:cubicBezTo>
                  <a:lnTo>
                    <a:pt x="3429000" y="1067741"/>
                  </a:lnTo>
                  <a:cubicBezTo>
                    <a:pt x="3429000" y="1109305"/>
                    <a:pt x="3395305" y="1143000"/>
                    <a:pt x="3353741" y="1143000"/>
                  </a:cubicBezTo>
                  <a:lnTo>
                    <a:pt x="75259" y="1143000"/>
                  </a:lnTo>
                  <a:cubicBezTo>
                    <a:pt x="33695" y="1143000"/>
                    <a:pt x="0" y="1109305"/>
                    <a:pt x="0" y="1067741"/>
                  </a:cubicBezTo>
                  <a:lnTo>
                    <a:pt x="0" y="75259"/>
                  </a:lnTo>
                  <a:cubicBezTo>
                    <a:pt x="0" y="33695"/>
                    <a:pt x="33695" y="0"/>
                    <a:pt x="7525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29000" cy="1190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457D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24375" y="3971925"/>
            <a:ext cx="25717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Benchmark sets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7191375" y="3286125"/>
            <a:ext cx="552450" cy="0"/>
          </a:xfrm>
          <a:prstGeom prst="line">
            <a:avLst/>
          </a:prstGeom>
          <a:ln cap="flat" w="28575">
            <a:solidFill>
              <a:srgbClr val="C6B9A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7858125" y="2857500"/>
            <a:ext cx="2571750" cy="857250"/>
            <a:chOff x="0" y="0"/>
            <a:chExt cx="3429000" cy="114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29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429000">
                  <a:moveTo>
                    <a:pt x="75259" y="0"/>
                  </a:moveTo>
                  <a:lnTo>
                    <a:pt x="3353741" y="0"/>
                  </a:lnTo>
                  <a:cubicBezTo>
                    <a:pt x="3395305" y="0"/>
                    <a:pt x="3429000" y="33695"/>
                    <a:pt x="3429000" y="75259"/>
                  </a:cubicBezTo>
                  <a:lnTo>
                    <a:pt x="3429000" y="1067741"/>
                  </a:lnTo>
                  <a:cubicBezTo>
                    <a:pt x="3429000" y="1109305"/>
                    <a:pt x="3395305" y="1143000"/>
                    <a:pt x="3353741" y="1143000"/>
                  </a:cubicBezTo>
                  <a:lnTo>
                    <a:pt x="75259" y="1143000"/>
                  </a:lnTo>
                  <a:cubicBezTo>
                    <a:pt x="33695" y="1143000"/>
                    <a:pt x="0" y="1109305"/>
                    <a:pt x="0" y="1067741"/>
                  </a:cubicBezTo>
                  <a:lnTo>
                    <a:pt x="0" y="75259"/>
                  </a:lnTo>
                  <a:cubicBezTo>
                    <a:pt x="0" y="33695"/>
                    <a:pt x="33695" y="0"/>
                    <a:pt x="7525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3429000" cy="1190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457D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03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858125" y="3971925"/>
            <a:ext cx="25717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Retrieval metrics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0525125" y="3286125"/>
            <a:ext cx="552450" cy="0"/>
          </a:xfrm>
          <a:prstGeom prst="line">
            <a:avLst/>
          </a:prstGeom>
          <a:ln cap="flat" w="28575">
            <a:solidFill>
              <a:srgbClr val="C6B9A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1191875" y="2857500"/>
            <a:ext cx="2571750" cy="857250"/>
            <a:chOff x="0" y="0"/>
            <a:chExt cx="3429000" cy="1143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29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429000">
                  <a:moveTo>
                    <a:pt x="75259" y="0"/>
                  </a:moveTo>
                  <a:lnTo>
                    <a:pt x="3353741" y="0"/>
                  </a:lnTo>
                  <a:cubicBezTo>
                    <a:pt x="3395305" y="0"/>
                    <a:pt x="3429000" y="33695"/>
                    <a:pt x="3429000" y="75259"/>
                  </a:cubicBezTo>
                  <a:lnTo>
                    <a:pt x="3429000" y="1067741"/>
                  </a:lnTo>
                  <a:cubicBezTo>
                    <a:pt x="3429000" y="1109305"/>
                    <a:pt x="3395305" y="1143000"/>
                    <a:pt x="3353741" y="1143000"/>
                  </a:cubicBezTo>
                  <a:lnTo>
                    <a:pt x="75259" y="1143000"/>
                  </a:lnTo>
                  <a:cubicBezTo>
                    <a:pt x="33695" y="1143000"/>
                    <a:pt x="0" y="1109305"/>
                    <a:pt x="0" y="1067741"/>
                  </a:cubicBezTo>
                  <a:lnTo>
                    <a:pt x="0" y="75259"/>
                  </a:lnTo>
                  <a:cubicBezTo>
                    <a:pt x="0" y="33695"/>
                    <a:pt x="33695" y="0"/>
                    <a:pt x="7525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429000" cy="1190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457D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04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191875" y="3971925"/>
            <a:ext cx="25717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Latency profile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3858875" y="3286125"/>
            <a:ext cx="552450" cy="0"/>
          </a:xfrm>
          <a:prstGeom prst="line">
            <a:avLst/>
          </a:prstGeom>
          <a:ln cap="flat" w="28575">
            <a:solidFill>
              <a:srgbClr val="C6B9A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4525625" y="2857500"/>
            <a:ext cx="2571750" cy="857250"/>
            <a:chOff x="0" y="0"/>
            <a:chExt cx="3429000" cy="1143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29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429000">
                  <a:moveTo>
                    <a:pt x="75259" y="0"/>
                  </a:moveTo>
                  <a:lnTo>
                    <a:pt x="3353741" y="0"/>
                  </a:lnTo>
                  <a:cubicBezTo>
                    <a:pt x="3395305" y="0"/>
                    <a:pt x="3429000" y="33695"/>
                    <a:pt x="3429000" y="75259"/>
                  </a:cubicBezTo>
                  <a:lnTo>
                    <a:pt x="3429000" y="1067741"/>
                  </a:lnTo>
                  <a:cubicBezTo>
                    <a:pt x="3429000" y="1109305"/>
                    <a:pt x="3395305" y="1143000"/>
                    <a:pt x="3353741" y="1143000"/>
                  </a:cubicBezTo>
                  <a:lnTo>
                    <a:pt x="75259" y="1143000"/>
                  </a:lnTo>
                  <a:cubicBezTo>
                    <a:pt x="33695" y="1143000"/>
                    <a:pt x="0" y="1109305"/>
                    <a:pt x="0" y="1067741"/>
                  </a:cubicBezTo>
                  <a:lnTo>
                    <a:pt x="0" y="75259"/>
                  </a:lnTo>
                  <a:cubicBezTo>
                    <a:pt x="0" y="33695"/>
                    <a:pt x="33695" y="0"/>
                    <a:pt x="75259" y="0"/>
                  </a:cubicBezTo>
                  <a:close/>
                </a:path>
              </a:pathLst>
            </a:custGeom>
            <a:solidFill>
              <a:srgbClr val="2457D6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3429000" cy="1190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05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525625" y="3971925"/>
            <a:ext cx="25717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Offline audit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09750" y="6334125"/>
            <a:ext cx="2381250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0"/>
              </a:lnSpc>
            </a:pPr>
            <a:r>
              <a:rPr lang="en-US" sz="6150">
                <a:solidFill>
                  <a:srgbClr val="FF6B1A"/>
                </a:solidFill>
                <a:latin typeface="Archivo Black"/>
                <a:ea typeface="Archivo Black"/>
                <a:cs typeface="Archivo Black"/>
                <a:sym typeface="Archivo Black"/>
              </a:rPr>
              <a:t>126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09750" y="7448550"/>
            <a:ext cx="285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>
                <a:solidFill>
                  <a:srgbClr val="FF6B1A"/>
                </a:solidFill>
                <a:latin typeface="IBM Plex Mono"/>
                <a:ea typeface="IBM Plex Mono"/>
                <a:cs typeface="IBM Plex Mono"/>
                <a:sym typeface="IBM Plex Mono"/>
              </a:rPr>
              <a:t>AUTOMATED TESTS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334125" y="6334125"/>
            <a:ext cx="2381250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0"/>
              </a:lnSpc>
            </a:pPr>
            <a:r>
              <a:rPr lang="en-US" sz="6150">
                <a:solidFill>
                  <a:srgbClr val="FF6B1A"/>
                </a:solidFill>
                <a:latin typeface="Archivo Black"/>
                <a:ea typeface="Archivo Black"/>
                <a:cs typeface="Archivo Black"/>
                <a:sym typeface="Archivo Black"/>
              </a:rPr>
              <a:t>79%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334125" y="7448550"/>
            <a:ext cx="285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>
                <a:solidFill>
                  <a:srgbClr val="FF6B1A"/>
                </a:solidFill>
                <a:latin typeface="IBM Plex Mono"/>
                <a:ea typeface="IBM Plex Mono"/>
                <a:cs typeface="IBM Plex Mono"/>
                <a:sym typeface="IBM Plex Mono"/>
              </a:rPr>
              <a:t>LINE COVERAGE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0" y="6543675"/>
            <a:ext cx="6191250" cy="6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Scope: single-user prototype · English technical roles · GPU timings not measured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33425"/>
            <a:ext cx="14287500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34"/>
              </a:lnSpc>
              <a:spcBef>
                <a:spcPct val="0"/>
              </a:spcBef>
            </a:pPr>
            <a:r>
              <a:rPr lang="en-US" sz="3900" strike="noStrike" u="none">
                <a:solidFill>
                  <a:srgbClr val="242424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Results &amp; Performance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1476375"/>
            <a:ext cx="876300" cy="76200"/>
            <a:chOff x="0" y="0"/>
            <a:chExt cx="1168400" cy="10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0" cy="101600"/>
            </a:xfrm>
            <a:custGeom>
              <a:avLst/>
              <a:gdLst/>
              <a:ahLst/>
              <a:cxnLst/>
              <a:rect r="r" b="b" t="t" l="l"/>
              <a:pathLst>
                <a:path h="101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78B5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68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3819" y="1522523"/>
            <a:ext cx="10524211" cy="7051453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66800" y="8305800"/>
            <a:ext cx="5715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>
                <a:solidFill>
                  <a:srgbClr val="FF6B1A"/>
                </a:solidFill>
                <a:latin typeface="IBM Plex Mono"/>
                <a:ea typeface="IBM Plex Mono"/>
                <a:cs typeface="IBM Plex Mono"/>
                <a:sym typeface="IBM Plex Mono"/>
              </a:rPr>
              <a:t>UNSUPPORTED TECH IN GENERATION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53000" y="8220075"/>
            <a:ext cx="5715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Llama 9.5%  vs  TinyLlama 29.8%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58500" y="2352675"/>
            <a:ext cx="4762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>
                <a:solidFill>
                  <a:srgbClr val="FF6B1A"/>
                </a:solidFill>
                <a:latin typeface="IBM Plex Mono"/>
                <a:ea typeface="IBM Plex Mono"/>
                <a:cs typeface="IBM Plex Mono"/>
                <a:sym typeface="IBM Plex Mono"/>
              </a:rPr>
              <a:t>LIMITATIONS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58500" y="2924175"/>
            <a:ext cx="5715000" cy="120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Prototype scope</a:t>
            </a:r>
          </a:p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Human review required</a:t>
            </a:r>
          </a:p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No GPU generation timing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58500" y="5781675"/>
            <a:ext cx="4762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>
                <a:solidFill>
                  <a:srgbClr val="FF6B1A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58500" y="6362700"/>
            <a:ext cx="5715000" cy="153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025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Multi-user support</a:t>
            </a:r>
          </a:p>
          <a:p>
            <a:pPr algn="l">
              <a:lnSpc>
                <a:spcPts val="3138"/>
              </a:lnSpc>
            </a:pPr>
            <a:r>
              <a:rPr lang="en-US" sz="2025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Broader languages &amp; roles</a:t>
            </a:r>
          </a:p>
          <a:p>
            <a:pPr algn="l">
              <a:lnSpc>
                <a:spcPts val="3138"/>
              </a:lnSpc>
            </a:pPr>
            <a:r>
              <a:rPr lang="en-US" sz="2025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GPU acceleration</a:t>
            </a:r>
          </a:p>
          <a:p>
            <a:pPr algn="l">
              <a:lnSpc>
                <a:spcPts val="3138"/>
              </a:lnSpc>
            </a:pPr>
            <a:r>
              <a:rPr lang="en-US" sz="2025">
                <a:solidFill>
                  <a:srgbClr val="242424"/>
                </a:solidFill>
                <a:latin typeface="DM Sans"/>
                <a:ea typeface="DM Sans"/>
                <a:cs typeface="DM Sans"/>
                <a:sym typeface="DM Sans"/>
              </a:rPr>
              <a:t>Explainable RAG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733425"/>
            <a:ext cx="14287500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34"/>
              </a:lnSpc>
              <a:spcBef>
                <a:spcPct val="0"/>
              </a:spcBef>
            </a:pPr>
            <a:r>
              <a:rPr lang="en-US" sz="3900" strike="noStrike" u="none">
                <a:solidFill>
                  <a:srgbClr val="F6F6F6"/>
                </a:solidFill>
                <a:latin typeface="Archivo Black"/>
                <a:ea typeface="Archivo Black"/>
                <a:cs typeface="Archivo Black"/>
                <a:sym typeface="Archivo Black"/>
              </a:rPr>
              <a:t>Limitations, Future Scope &amp; 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6800" y="1476375"/>
            <a:ext cx="876300" cy="76200"/>
            <a:chOff x="0" y="0"/>
            <a:chExt cx="1168400" cy="10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400" cy="101600"/>
            </a:xfrm>
            <a:custGeom>
              <a:avLst/>
              <a:gdLst/>
              <a:ahLst/>
              <a:cxnLst/>
              <a:rect r="r" b="b" t="t" l="l"/>
              <a:pathLst>
                <a:path h="1016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78B5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68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66800" y="2514600"/>
            <a:ext cx="6572250" cy="37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2"/>
              </a:lnSpc>
            </a:pPr>
            <a:r>
              <a:rPr lang="en-US" sz="2700">
                <a:solidFill>
                  <a:srgbClr val="FF8A2B"/>
                </a:solidFill>
                <a:latin typeface="DM Sans"/>
                <a:ea typeface="DM Sans"/>
                <a:cs typeface="DM Sans"/>
                <a:sym typeface="DM Sans"/>
              </a:rPr>
              <a:t>HYBRID WINS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3305175"/>
            <a:ext cx="6572250" cy="6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Semantic + keyword retrieval outperforms the baseline.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58300" y="2514600"/>
            <a:ext cx="6572250" cy="37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2"/>
              </a:lnSpc>
            </a:pPr>
            <a:r>
              <a:rPr lang="en-US" sz="2700">
                <a:solidFill>
                  <a:srgbClr val="FF8A2B"/>
                </a:solidFill>
                <a:latin typeface="DM Sans"/>
                <a:ea typeface="DM Sans"/>
                <a:cs typeface="DM Sans"/>
                <a:sym typeface="DM Sans"/>
              </a:rPr>
              <a:t>LOCAL CAN SCALE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58300" y="3305175"/>
            <a:ext cx="657225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HNSW keeps discovery responsive at 100k rows.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5657850"/>
            <a:ext cx="6572250" cy="37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2"/>
              </a:lnSpc>
            </a:pPr>
            <a:r>
              <a:rPr lang="en-US" sz="2700">
                <a:solidFill>
                  <a:srgbClr val="FF8A2B"/>
                </a:solidFill>
                <a:latin typeface="DM Sans"/>
                <a:ea typeface="DM Sans"/>
                <a:cs typeface="DM Sans"/>
                <a:sym typeface="DM Sans"/>
              </a:rPr>
              <a:t>PRIVACY BY DESIGN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6448425"/>
            <a:ext cx="657225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Self-hosting preserves user data and control.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8300" y="5657850"/>
            <a:ext cx="6572250" cy="37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2"/>
              </a:lnSpc>
            </a:pPr>
            <a:r>
              <a:rPr lang="en-US" sz="2700">
                <a:solidFill>
                  <a:srgbClr val="FF6B1A"/>
                </a:solidFill>
                <a:latin typeface="DM Sans"/>
                <a:ea typeface="DM Sans"/>
                <a:cs typeface="DM Sans"/>
                <a:sym typeface="DM Sans"/>
              </a:rPr>
              <a:t>HUMANS STAY IN LOOP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58300" y="6448425"/>
            <a:ext cx="657225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Review remains essential for application quality.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7650" cy="10287000"/>
            <a:chOff x="0" y="0"/>
            <a:chExt cx="3302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0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30200">
                  <a:moveTo>
                    <a:pt x="0" y="0"/>
                  </a:moveTo>
                  <a:lnTo>
                    <a:pt x="330200" y="0"/>
                  </a:lnTo>
                  <a:lnTo>
                    <a:pt x="330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8B5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02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185756"/>
            <a:ext cx="11906250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5"/>
              </a:lnSpc>
            </a:pPr>
            <a:r>
              <a:rPr lang="en-US" sz="9900">
                <a:solidFill>
                  <a:srgbClr val="F6F6F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" y="5857875"/>
            <a:ext cx="10477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6F6F6"/>
                </a:solidFill>
                <a:latin typeface="Archivo Black"/>
                <a:ea typeface="Archivo Black"/>
                <a:cs typeface="Archivo Black"/>
                <a:sym typeface="Archivo Black"/>
              </a:rPr>
              <a:t>By Shrish Prasad Chakraborty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6238875"/>
            <a:ext cx="8572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8A2B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Reg. No.: RA2532014010136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DAHX5mC5Ucg</dc:identifier>
  <dcterms:modified xsi:type="dcterms:W3CDTF">2011-08-01T06:04:30Z</dcterms:modified>
  <cp:revision>1</cp:revision>
  <dc:title>Job Scout AI Platform</dc:title>
</cp:coreProperties>
</file>