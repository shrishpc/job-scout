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628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097280"/>
            <a:ext cx="10362895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MASTER OF SCIENCE IN APPLIED DATA SCIENCE  |  FINAL PROJECT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484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Arial"/>
              </a:defRPr>
            </a:pPr>
            <a:r>
              <a:t>JOB SCOUT</a:t>
            </a:r>
          </a:p>
          <a:p>
            <a:pPr>
              <a:defRPr sz="2100" b="1">
                <a:solidFill>
                  <a:srgbClr val="2563EB"/>
                </a:solidFill>
                <a:latin typeface="Arial"/>
              </a:defRPr>
            </a:pPr>
            <a:r>
              <a:t>AI-Powered Job Discovery &amp; ATS Optimization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92608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126 Automated Tests</a:t>
            </a:r>
          </a:p>
          <a:p>
            <a:pPr algn="ctr">
              <a:defRPr sz="950">
                <a:solidFill>
                  <a:srgbClr val="334155"/>
                </a:solidFill>
                <a:latin typeface="Calibri"/>
              </a:defRPr>
            </a:pPr>
            <a:r>
              <a:t>100% Passing (14.6s CI)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474720"/>
            <a:ext cx="2926080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Sub-10ms Hybrid Search</a:t>
            </a:r>
          </a:p>
          <a:p>
            <a:pPr algn="ctr">
              <a:defRPr sz="950">
                <a:solidFill>
                  <a:srgbClr val="334155"/>
                </a:solidFill>
                <a:latin typeface="Calibri"/>
              </a:defRPr>
            </a:pPr>
            <a:r>
              <a:t>9.08 ms on 100k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474720"/>
            <a:ext cx="2926080" cy="7315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100% Air-Gapped Local AI</a:t>
            </a:r>
          </a:p>
          <a:p>
            <a:pPr algn="ctr">
              <a:defRPr sz="950">
                <a:solidFill>
                  <a:srgbClr val="334155"/>
                </a:solidFill>
                <a:latin typeface="Calibri"/>
              </a:defRPr>
            </a:pPr>
            <a:r>
              <a:t>Zero Cloud API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94484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Candidate: Shrish Prasad Chakraborty (Reg. No: RA2532014010136)   |   Supervisor: Dr. R. Thilagavathy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Department of Computer Applications   |   SRM Institute of Science &amp; Technology, Chennai</a:t>
            </a:r>
          </a:p>
          <a:p>
            <a:pPr>
              <a:defRPr sz="1000">
                <a:solidFill>
                  <a:srgbClr val="2563EB"/>
                </a:solidFill>
                <a:latin typeface="Calibri"/>
              </a:defRPr>
            </a:pPr>
            <a:r>
              <a:t>Codebase: https://github.com/ShrishPC/Job-Scout.git   |   Host Execution Target: /home/rishav/job-scout/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A580C"/>
                </a:solidFill>
                <a:latin typeface="Arial"/>
              </a:defRPr>
            </a:pPr>
            <a:r>
              <a:t>PROBLEM VS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Real-World Crisis &amp; Core Engineering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731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THE RECRUITMENT ASYMMETRY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⚠️ 75% Unforgiving ATS Rejection Rate
</a:t>
            </a:r>
            <a:r>
              <a:rPr sz="1050">
                <a:solidFill>
                  <a:srgbClr val="334155"/>
                </a:solidFill>
                <a:latin typeface="Calibri"/>
              </a:rPr>
              <a:t>Brittle keyword filters discard highly qualified talent over minor lexical phrasing differences (e.g., 'Go' vs 'Golang') without evaluating semantic competence.</a:t>
            </a:r>
          </a:p>
          <a:p>
            <a:pPr>
              <a:spcAft>
                <a:spcPts val="120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⚠️ Severe Privacy &amp; PII Exposure Risks
</a:t>
            </a:r>
            <a:r>
              <a:rPr sz="1050">
                <a:solidFill>
                  <a:srgbClr val="334155"/>
                </a:solidFill>
                <a:latin typeface="Calibri"/>
              </a:rPr>
              <a:t>Commercial cloud resume tools upload unredacted work histories, contacts, and confidential code to third-party cloud LLM APIs without independent security guarantees.</a:t>
            </a:r>
          </a:p>
          <a:p>
            <a:pPr>
              <a:spcAft>
                <a:spcPts val="120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⚠️ SaaS Paywalls &amp; Portal Fragmentation
</a:t>
            </a:r>
            <a:r>
              <a:rPr sz="1050">
                <a:solidFill>
                  <a:srgbClr val="334155"/>
                </a:solidFill>
                <a:latin typeface="Calibri"/>
              </a:rPr>
              <a:t>Incumbent tools lock essential optimization behind $20-$50/month paywalls, while job seekers face severe fatigue juggling multiple disconnected job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ENGINEERED SYSTEM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✅ Autonomous Multi-Source Harvesting
</a:t>
            </a:r>
            <a:r>
              <a:rPr sz="1000">
                <a:solidFill>
                  <a:srgbClr val="334155"/>
                </a:solidFill>
              </a:rPr>
              <a:t>Engineer a resilient Celery/Playwright task pipeline across 5 portals (LinkedIn, Indeed, Naukri, RemoteOK, WWR) with automatic deduplication.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✅ Sub-10ms Two-Stage Hybrid Matchmaking
</a:t>
            </a:r>
            <a:r>
              <a:rPr sz="1000">
                <a:solidFill>
                  <a:srgbClr val="334155"/>
                </a:solidFill>
              </a:rPr>
              <a:t>Fuse 70% dense semantic embeddings (all-MiniLM-L6-v2 via pgvector HNSW) with 30% keyword frequency for lightning-fast candidate ranking.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✅ Deterministic 100-Point ATS Rubric
</a:t>
            </a:r>
            <a:r>
              <a:rPr sz="1000">
                <a:solidFill>
                  <a:srgbClr val="334155"/>
                </a:solidFill>
              </a:rPr>
              <a:t>Deliver an explainable, mathematical scorecard across Hard/Soft Skills, Experience, Education, and Formatting with zero AI hallucination.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✅ Air-Gapped On-Device Generative Tailoring
</a:t>
            </a:r>
            <a:r>
              <a:rPr sz="1000">
                <a:solidFill>
                  <a:srgbClr val="334155"/>
                </a:solidFill>
              </a:rPr>
              <a:t>Execute local RAG resume synthesis via Llama-3.2-3B with real-time SSE streaming, ensuring 100% data sovereignty and zero API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MARKET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Competitive Analysis: Commercial Tools vs. Job Scout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4297680"/>
                <a:gridCol w="4297680"/>
              </a:tblGrid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Commercial ATS Tools (Jobscan / Teal / Rezi)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Scout Platform (Proposed Architecture)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Search &amp;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A580C"/>
                          </a:solidFill>
                          <a:latin typeface="Calibri"/>
                        </a:defRPr>
                      </a:pPr>
                      <a:r>
                        <a:t>Exact keyword matching; misses conceptual synonyms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Two-Stage Hybrid: 70% Semantic (pgvector HNSW) + 30% Keyword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Candidate Privacy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A580C"/>
                          </a:solidFill>
                          <a:latin typeface="Calibri"/>
                        </a:defRPr>
                      </a:pPr>
                      <a:r>
                        <a:t>Uploaded to third-party cloud servers; unverified PII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100% Air-gapped on-device execution; zero external network egress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Cost &amp;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A580C"/>
                          </a:solidFill>
                          <a:latin typeface="Calibri"/>
                        </a:defRPr>
                      </a:pPr>
                      <a:r>
                        <a:t>Recurring SaaS paywalls ($20 to $50 / month per applicant)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Zero paid API usage; fully self-hosted open-source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ATS Diagnostics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Opaque proprietary percentage score; non-actionable suggestions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Deterministic 100-point rubric; exact keyword gap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Content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Commercial cloud LLMs (OpenAI API) or static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On-device local RAG via Llama-3.2-3B with live SSE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Job Harvesting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browsing or locked to proprietary platform partners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Autonomous Celery task queue harvesting 5 live job portals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SYSTEM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System Architecture: Decoupled 4-Tier Microservice 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TIER 1: PRESENTATION (NEXT.JS 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Responsive SPA, Server-Sent Events (SSE) token listener, dynamic Kanban 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02920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TIER 2: APPLICATION API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Asynchronous ASGI service, Pydantic validation schemas, two-stage SQL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029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19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TIER 3: VECTOR DATABASE (POSTGRESQL 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79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pgvector HNSW index (m=16, ef=128), session ef_search=400 clamping, relational store.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50292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TIER 4: DISTRIBUTED WORKERS (REDIS &amp; CELERY)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Headless Playwright scraper daemon, task broker, SHA-256 LLM response caching.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371600"/>
            <a:ext cx="53949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1371600"/>
            <a:ext cx="539496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VERIFIED SYSTEM DATA FLOW</a:t>
            </a:r>
          </a:p>
        </p:txBody>
      </p:sp>
      <p:pic>
        <p:nvPicPr>
          <p:cNvPr id="25" name="Picture 24" descr="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TECH STACK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Technology Stack: Purpose-Built On-Device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CORE BACKEND &amp;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  <a:latin typeface="Arial"/>
              </a:rPr>
              <a:t>• FastAPI &amp; Uvicorn: </a:t>
            </a:r>
            <a:r>
              <a:rPr sz="950">
                <a:solidFill>
                  <a:srgbClr val="334155"/>
                </a:solidFill>
                <a:latin typeface="Calibri"/>
              </a:rPr>
              <a:t>High-concurrency async Python framework with automatic OpenAPI documentation.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  <a:latin typeface="Arial"/>
              </a:rPr>
              <a:t>• SQLAlchemy 2.0 ORM: </a:t>
            </a:r>
            <a:r>
              <a:rPr sz="950">
                <a:solidFill>
                  <a:srgbClr val="334155"/>
                </a:solidFill>
                <a:latin typeface="Calibri"/>
              </a:rPr>
              <a:t>Optimized connection pool (pool_size=10, max_overflow=20) with pre-ping validation.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  <a:latin typeface="Arial"/>
              </a:rPr>
              <a:t>• PostgreSQL 16 + pgvector: </a:t>
            </a:r>
            <a:r>
              <a:rPr sz="950">
                <a:solidFill>
                  <a:srgbClr val="334155"/>
                </a:solidFill>
                <a:latin typeface="Calibri"/>
              </a:rPr>
              <a:t>Hybrid store combining relational job data with 384-dimensional vector indexing.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EMBEDDINGS &amp; LOCAL GENERATIVE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7C3AED"/>
                </a:solidFill>
                <a:latin typeface="Arial"/>
              </a:rPr>
              <a:t>• all-MiniLM-L6-v2: </a:t>
            </a:r>
            <a:r>
              <a:rPr sz="950">
                <a:solidFill>
                  <a:srgbClr val="334155"/>
                </a:solidFill>
                <a:latin typeface="Calibri"/>
              </a:rPr>
              <a:t>384-dimensional sentence transformer generating dense semantic vectors in ~5ms.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7C3AED"/>
                </a:solidFill>
                <a:latin typeface="Arial"/>
              </a:rPr>
              <a:t>• Llama-3.2-3B-Instruct: </a:t>
            </a:r>
            <a:r>
              <a:rPr sz="950">
                <a:solidFill>
                  <a:srgbClr val="334155"/>
                </a:solidFill>
                <a:latin typeface="Calibri"/>
              </a:rPr>
              <a:t>SOTA small language model running 100% locally in bfloat16 via PyTorch.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7C3AED"/>
                </a:solidFill>
                <a:latin typeface="Arial"/>
              </a:rPr>
              <a:t>• TinyLlama-1.1B: </a:t>
            </a:r>
            <a:r>
              <a:rPr sz="950">
                <a:solidFill>
                  <a:srgbClr val="334155"/>
                </a:solidFill>
                <a:latin typeface="Calibri"/>
              </a:rPr>
              <a:t>Secondary automated fallback model ensuring graceful degradation on low-RAM hosts.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2120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ASYNC WORKERS &amp; HARVESTING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284C7"/>
                </a:solidFill>
                <a:latin typeface="Arial"/>
              </a:rPr>
              <a:t>• Redis 7.2 Message Broker: </a:t>
            </a:r>
            <a:r>
              <a:rPr sz="950">
                <a:solidFill>
                  <a:srgbClr val="334155"/>
                </a:solidFill>
                <a:latin typeface="Calibri"/>
              </a:rPr>
              <a:t>In-memory task queue broker and cryptographic SHA-256 generation cache.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284C7"/>
                </a:solidFill>
                <a:latin typeface="Arial"/>
              </a:rPr>
              <a:t>• Celery 5.3 Distributed Queue: </a:t>
            </a:r>
            <a:r>
              <a:rPr sz="950">
                <a:solidFill>
                  <a:srgbClr val="334155"/>
                </a:solidFill>
                <a:latin typeface="Calibri"/>
              </a:rPr>
              <a:t>Non-blocking background task runner scheduling concurrent scraper jobs.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284C7"/>
                </a:solidFill>
                <a:latin typeface="Arial"/>
              </a:rPr>
              <a:t>• Playwright 1.44 Headless: </a:t>
            </a:r>
            <a:r>
              <a:rPr sz="950">
                <a:solidFill>
                  <a:srgbClr val="334155"/>
                </a:solidFill>
                <a:latin typeface="Calibri"/>
              </a:rPr>
              <a:t>Browser automation overcoming dynamic client-rendered job board interfaces.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FRONTEND, DEVOPS &amp;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  <a:latin typeface="Arial"/>
              </a:rPr>
              <a:t>• Next.js 14 &amp; Tailwind CSS: </a:t>
            </a:r>
            <a:r>
              <a:rPr sz="950">
                <a:solidFill>
                  <a:srgbClr val="334155"/>
                </a:solidFill>
                <a:latin typeface="Calibri"/>
              </a:rPr>
              <a:t>Component-driven responsive interface styled with Lucide icons and SSE hooks.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  <a:latin typeface="Arial"/>
              </a:rPr>
              <a:t>• Docker &amp; Docker Compose: </a:t>
            </a:r>
            <a:r>
              <a:rPr sz="950">
                <a:solidFill>
                  <a:srgbClr val="334155"/>
                </a:solidFill>
                <a:latin typeface="Calibri"/>
              </a:rPr>
              <a:t>Multi-container orchestration providing reproducible, zero-friction deployments.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  <a:latin typeface="Arial"/>
              </a:rPr>
              <a:t>• pytest Test Framework: </a:t>
            </a:r>
            <a:r>
              <a:rPr sz="950">
                <a:solidFill>
                  <a:srgbClr val="334155"/>
                </a:solidFill>
                <a:latin typeface="Calibri"/>
              </a:rPr>
              <a:t>126 automated test cases establishing 79% verified backend line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Implementation Highlights: 4 Production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01 // THE VAULT (RESUME INGESTION)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Multi-engine parser (PDF/DOCX) stripping formatting artifacts into clean Markdown; generates 384-d vectors via SentenceTransformers.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02920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02 // THE HUNT (TWO-STAGE MATCHMAKING)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Stage 1 retrieves top 200 candidates via HNSW in 2.88 ms; Stage 2 scores keywords in-memory (9.08 ms total API latency).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0292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19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03 // THE RADAR (100-POINT ATS RUBRIC)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79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Explainable rubric: Hard Skills (40), Soft (20), Exp (25), Edu (10), Format (5) with frequency-weighted keyword gap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50292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04 // THE COPILOT (LOCAL RAG TAILORING)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Llama-3.2-3B synthesizes tailored executive summary + 3 STAR bullets streamed live via SSE with zero cloud API keys.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371600"/>
            <a:ext cx="53949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1371600"/>
            <a:ext cx="53949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LIVE RADAR &amp; ATS SCORECARD UI</a:t>
            </a:r>
          </a:p>
        </p:txBody>
      </p:sp>
      <p:pic>
        <p:nvPicPr>
          <p:cNvPr id="25" name="Picture 24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EMPIRICAL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Empirical Validation: Measured Benchmarks &amp;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4630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9.08 ms</a:t>
            </a:r>
          </a:p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API Match Latency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POST /jobs/matches on 100k rows (98.1x speedup)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Arial"/>
              </a:defRPr>
            </a:pPr>
            <a:r>
              <a:t>0.9565</a:t>
            </a:r>
          </a:p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HNSW Recall@10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Tuned at ef_search=400 (vs 0.58 default drop)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4630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284C7"/>
                </a:solidFill>
                <a:latin typeface="Arial"/>
              </a:defRPr>
            </a:pPr>
            <a:r>
              <a:t>0.985</a:t>
            </a:r>
          </a:p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Retrieval NDCG@10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28x560 Benchmark (P@5 = 0.986, MRR = 1.0)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146304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7C3AED"/>
                </a:solidFill>
                <a:latin typeface="Arial"/>
              </a:defRPr>
            </a:pPr>
            <a:r>
              <a:t>30,637x</a:t>
            </a:r>
          </a:p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Redis Cache Acceleration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61.33 s Cold CPU down to 2.00 ms Warm Hit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TEST SUITE &amp; SECURITY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• 126 Automated Tests Passing: </a:t>
            </a:r>
            <a:r>
              <a:rPr sz="950">
                <a:solidFill>
                  <a:srgbClr val="334155"/>
                </a:solidFill>
              </a:rPr>
              <a:t> 100% pass rate in 14.60 seconds via pytest CI.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• 79% Backend Line Coverage: </a:t>
            </a:r>
            <a:r>
              <a:rPr sz="950">
                <a:solidFill>
                  <a:srgbClr val="334155"/>
                </a:solidFill>
              </a:rPr>
              <a:t> 100% on models &amp; config; 88% on ATS; 84% on parser.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• Air-Gapped Offline Execution: </a:t>
            </a:r>
            <a:r>
              <a:rPr sz="950">
                <a:solidFill>
                  <a:srgbClr val="334155"/>
                </a:solidFill>
              </a:rPr>
              <a:t> Full pipeline finishes in 145.55 ms with network blocked.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• Hardened Security Layer: </a:t>
            </a:r>
            <a:r>
              <a:rPr sz="950">
                <a:solidFill>
                  <a:srgbClr val="334155"/>
                </a:solidFill>
              </a:rPr>
              <a:t> Parameterized SQL bindings, admin API key, 10MB upload limit.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521208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FACTUALITY &amp; HUMAN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7C3AED"/>
                </a:solidFill>
              </a:rPr>
              <a:t>• 9.5% Unsupported Claims: </a:t>
            </a:r>
            <a:r>
              <a:rPr sz="950">
                <a:solidFill>
                  <a:srgbClr val="334155"/>
                </a:solidFill>
              </a:rPr>
              <a:t> Only 8/84 claims unsupported for Llama-3.2 vs 29.8% for TinyLlama.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7C3AED"/>
                </a:solidFill>
              </a:rPr>
              <a:t>• 4.20 / 5.00 Blind Human Rating: </a:t>
            </a:r>
            <a:r>
              <a:rPr sz="950">
                <a:solidFill>
                  <a:srgbClr val="334155"/>
                </a:solidFill>
              </a:rPr>
              <a:t> Evaluated across 20 samples for relevance, tone, and fit (vs 2.75).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7C3AED"/>
                </a:solidFill>
              </a:rPr>
              <a:t>• CPU Throughput Constraint: </a:t>
            </a:r>
            <a:r>
              <a:rPr sz="950">
                <a:solidFill>
                  <a:srgbClr val="334155"/>
                </a:solidFill>
              </a:rPr>
              <a:t> 1.82 tok/s CPU throughput bound by 6.42 GB bfloat16 RAM bandwidth.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7C3AED"/>
                </a:solidFill>
              </a:rPr>
              <a:t>• Zero Third-Party Data Leakage: </a:t>
            </a:r>
            <a:r>
              <a:rPr sz="950">
                <a:solidFill>
                  <a:srgbClr val="334155"/>
                </a:solidFill>
              </a:rPr>
              <a:t> Fully local architecture eliminates recurring API costs and PII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System Demonstration: End-to-End Live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LOCAL VERIFICATION CHECKLIST (/HOME/RISHAV/JOB-SCOUT/)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01. Container Health Check: </a:t>
            </a:r>
            <a:r>
              <a:rPr sz="950">
                <a:solidFill>
                  <a:srgbClr val="334155"/>
                </a:solidFill>
              </a:rPr>
              <a:t>FastAPI (8001), Next.js (3000), PostgreSQL (5435), Redis (6379), Celery.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02. Ingest Resume in Vault: </a:t>
            </a:r>
            <a:r>
              <a:rPr sz="950">
                <a:solidFill>
                  <a:srgbClr val="334155"/>
                </a:solidFill>
              </a:rPr>
              <a:t>Upload sample PDF resume; observe instant Markdown parsing &amp; 384-d vector.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03. Live Matchmaking Query: </a:t>
            </a:r>
            <a:r>
              <a:rPr sz="950">
                <a:solidFill>
                  <a:srgbClr val="334155"/>
                </a:solidFill>
              </a:rPr>
              <a:t>Execute live hybrid search; verify sub-10ms response via pgvector HNSW.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04. 100-Point ATS Diagnostic: </a:t>
            </a:r>
            <a:r>
              <a:rPr sz="950">
                <a:solidFill>
                  <a:srgbClr val="334155"/>
                </a:solidFill>
              </a:rPr>
              <a:t>Inspect Radar module scorecard; review matched skills vs missing keywords.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05. Real-Time RAG Tailoring: </a:t>
            </a:r>
            <a:r>
              <a:rPr sz="950">
                <a:solidFill>
                  <a:srgbClr val="334155"/>
                </a:solidFill>
              </a:rPr>
              <a:t>Trigger local Llama-3.2 tailoring; observe live SSE token streaming in browser.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06. 2.00 ms Instant Cache Hit: </a:t>
            </a:r>
            <a:r>
              <a:rPr sz="950">
                <a:solidFill>
                  <a:srgbClr val="334155"/>
                </a:solidFill>
              </a:rPr>
              <a:t>Re-request same tailoring; verify instant 2.00 ms response from Redis cache.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B981"/>
                </a:solidFill>
              </a:rPr>
              <a:t>07. Kanban Pipeline Transition: </a:t>
            </a:r>
            <a:r>
              <a:rPr sz="950">
                <a:solidFill>
                  <a:srgbClr val="334155"/>
                </a:solidFill>
              </a:rPr>
              <a:t>Move job card to 'Applied'; verify persistent state change in PostgreSQL.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LIVE SYSTEM INTERFACE (COPILOT MODULE)</a:t>
            </a:r>
          </a:p>
        </p:txBody>
      </p:sp>
      <p:pic>
        <p:nvPicPr>
          <p:cNvPr id="13" name="Picture 12" descr="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VISION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Conclusion &amp; Future Research Horizons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PROJECT ACHIEVEMENTS &amp;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</a:rPr>
              <a:t>🎯 Applicant-Side ATS Parity
</a:t>
            </a:r>
            <a:r>
              <a:rPr sz="1000">
                <a:solidFill>
                  <a:srgbClr val="334155"/>
                </a:solidFill>
              </a:rPr>
              <a:t>Democratized commercial-grade ATS screening intelligence, enabling candidates to navigate automated corporate filters equitably.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</a:rPr>
              <a:t>🎯 Sub-10ms Hybrid Retrieval at Scale
</a:t>
            </a:r>
            <a:r>
              <a:rPr sz="1000">
                <a:solidFill>
                  <a:srgbClr val="334155"/>
                </a:solidFill>
              </a:rPr>
              <a:t>Proved that standard PostgreSQL instances can deliver enterprise-grade 9.08 ms vector search across 100k rows (98.1x speedup).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</a:rPr>
              <a:t>🎯 Uncompromising Data Sovereignty
</a:t>
            </a:r>
            <a:r>
              <a:rPr sz="1000">
                <a:solidFill>
                  <a:srgbClr val="334155"/>
                </a:solidFill>
              </a:rPr>
              <a:t>Demonstrated that cutting-edge AI recruitment tools do not require third-party cloud APIs, recurring SaaS paywalls, or PII leakage.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</a:rPr>
              <a:t>🎯 Rigorously Validated Engineering
</a:t>
            </a:r>
            <a:r>
              <a:rPr sz="1000">
                <a:solidFill>
                  <a:srgbClr val="334155"/>
                </a:solidFill>
              </a:rPr>
              <a:t>Validated through 126 automated tests (79% coverage), 95.65% HNSW recall, and blind human evaluation ratings of 4.20/5.00.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FUTURE RESEARCH &amp; SCALING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🚀 4-Bit GGUF Quantization (llama.cpp)
</a:t>
            </a:r>
            <a:r>
              <a:rPr sz="1000">
                <a:solidFill>
                  <a:srgbClr val="334155"/>
                </a:solidFill>
              </a:rPr>
              <a:t>Compress model RAM footprint to 2.2 GB and double CPU token generation throughput from 1.8 to 4.5+ tokens/second.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🚀 Multi-Profile Portfolio Management
</a:t>
            </a:r>
            <a:r>
              <a:rPr sz="1000">
                <a:solidFill>
                  <a:srgbClr val="334155"/>
                </a:solidFill>
              </a:rPr>
              <a:t>Allow applicants to maintain targeted resume variants (e.g., DevOps vs Data Science) with dynamic variant matchmaking.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🚀 Automated Headless LaTeX Engine
</a:t>
            </a:r>
            <a:r>
              <a:rPr sz="1000">
                <a:solidFill>
                  <a:srgbClr val="334155"/>
                </a:solidFill>
              </a:rPr>
              <a:t>Programmatically compile tailored Markdown resumes into pixel-perfect, ATS-compliant PDFs via headless Typst or LaTeX.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🚀 LoRA Domain Adaptation
</a:t>
            </a:r>
            <a:r>
              <a:rPr sz="1000">
                <a:solidFill>
                  <a:srgbClr val="334155"/>
                </a:solidFill>
              </a:rPr>
              <a:t>Fine-tune low-rank adapters on curated regional tech job postings to further reduce unsupported claims below 5%.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